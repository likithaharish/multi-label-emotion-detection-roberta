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6" Type="http://schemas.microsoft.com/office/2020/02/relationships/classificationlabels" Target="docMetadata/LabelInfo.xml" /><Relationship Id="rId5" Type="http://schemas.openxmlformats.org/officeDocument/2006/relationships/custom-properties" Target="docProps/custom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9" r:id="rId4"/>
  </p:sldMasterIdLst>
  <p:notesMasterIdLst>
    <p:notesMasterId r:id="rId22"/>
  </p:notesMasterIdLst>
  <p:handoutMasterIdLst>
    <p:handoutMasterId r:id="rId23"/>
  </p:handoutMasterIdLst>
  <p:sldIdLst>
    <p:sldId id="299" r:id="rId5"/>
    <p:sldId id="269" r:id="rId6"/>
    <p:sldId id="279" r:id="rId7"/>
    <p:sldId id="282" r:id="rId8"/>
    <p:sldId id="300" r:id="rId9"/>
    <p:sldId id="287" r:id="rId10"/>
    <p:sldId id="288" r:id="rId11"/>
    <p:sldId id="285" r:id="rId12"/>
    <p:sldId id="289" r:id="rId13"/>
    <p:sldId id="290" r:id="rId14"/>
    <p:sldId id="304" r:id="rId15"/>
    <p:sldId id="297" r:id="rId16"/>
    <p:sldId id="298" r:id="rId17"/>
    <p:sldId id="302" r:id="rId18"/>
    <p:sldId id="294" r:id="rId19"/>
    <p:sldId id="303" r:id="rId20"/>
    <p:sldId id="29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00529A-F17D-496C-B085-9549E93CB51E}">
          <p14:sldIdLst>
            <p14:sldId id="299"/>
          </p14:sldIdLst>
        </p14:section>
        <p14:section name="Untitled Section" id="{FD88B7B8-C7FA-46F2-90BC-E9412096869A}">
          <p14:sldIdLst>
            <p14:sldId id="269"/>
            <p14:sldId id="279"/>
            <p14:sldId id="282"/>
            <p14:sldId id="300"/>
            <p14:sldId id="287"/>
            <p14:sldId id="288"/>
            <p14:sldId id="285"/>
            <p14:sldId id="289"/>
            <p14:sldId id="290"/>
            <p14:sldId id="304"/>
            <p14:sldId id="297"/>
            <p14:sldId id="298"/>
            <p14:sldId id="302"/>
            <p14:sldId id="294"/>
            <p14:sldId id="30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7" orient="horz" pos="2500" userDrawn="1">
          <p15:clr>
            <a:srgbClr val="A4A3A4"/>
          </p15:clr>
        </p15:guide>
        <p15:guide id="8" pos="49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2752"/>
    <a:srgbClr val="E3A097"/>
    <a:srgbClr val="F5D9D7"/>
    <a:srgbClr val="263025"/>
    <a:srgbClr val="334031"/>
    <a:srgbClr val="8A9161"/>
    <a:srgbClr val="81875A"/>
    <a:srgbClr val="000000"/>
    <a:srgbClr val="EFE0BE"/>
    <a:srgbClr val="F7F1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500"/>
        <p:guide pos="495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 /><Relationship Id="rId13" Type="http://schemas.openxmlformats.org/officeDocument/2006/relationships/slide" Target="slides/slide9.xml" /><Relationship Id="rId18" Type="http://schemas.openxmlformats.org/officeDocument/2006/relationships/slide" Target="slides/slide14.xml" /><Relationship Id="rId26" Type="http://schemas.openxmlformats.org/officeDocument/2006/relationships/theme" Target="theme/theme1.xml" /><Relationship Id="rId3" Type="http://schemas.openxmlformats.org/officeDocument/2006/relationships/customXml" Target="../customXml/item3.xml" /><Relationship Id="rId21" Type="http://schemas.openxmlformats.org/officeDocument/2006/relationships/slide" Target="slides/slide17.xml" /><Relationship Id="rId7" Type="http://schemas.openxmlformats.org/officeDocument/2006/relationships/slide" Target="slides/slide3.xml" /><Relationship Id="rId12" Type="http://schemas.openxmlformats.org/officeDocument/2006/relationships/slide" Target="slides/slide8.xml" /><Relationship Id="rId17" Type="http://schemas.openxmlformats.org/officeDocument/2006/relationships/slide" Target="slides/slide13.xml" /><Relationship Id="rId25" Type="http://schemas.openxmlformats.org/officeDocument/2006/relationships/viewProps" Target="viewProps.xml" /><Relationship Id="rId2" Type="http://schemas.openxmlformats.org/officeDocument/2006/relationships/customXml" Target="../customXml/item2.xml" /><Relationship Id="rId16" Type="http://schemas.openxmlformats.org/officeDocument/2006/relationships/slide" Target="slides/slide12.xml" /><Relationship Id="rId20" Type="http://schemas.openxmlformats.org/officeDocument/2006/relationships/slide" Target="slides/slide16.xml" /><Relationship Id="rId1" Type="http://schemas.openxmlformats.org/officeDocument/2006/relationships/customXml" Target="../customXml/item1.xml" /><Relationship Id="rId6" Type="http://schemas.openxmlformats.org/officeDocument/2006/relationships/slide" Target="slides/slide2.xml" /><Relationship Id="rId11" Type="http://schemas.openxmlformats.org/officeDocument/2006/relationships/slide" Target="slides/slide7.xml" /><Relationship Id="rId24" Type="http://schemas.openxmlformats.org/officeDocument/2006/relationships/presProps" Target="presProps.xml" /><Relationship Id="rId5" Type="http://schemas.openxmlformats.org/officeDocument/2006/relationships/slide" Target="slides/slide1.xml" /><Relationship Id="rId15" Type="http://schemas.openxmlformats.org/officeDocument/2006/relationships/slide" Target="slides/slide11.xml" /><Relationship Id="rId23" Type="http://schemas.openxmlformats.org/officeDocument/2006/relationships/handoutMaster" Target="handoutMasters/handoutMaster1.xml" /><Relationship Id="rId10" Type="http://schemas.openxmlformats.org/officeDocument/2006/relationships/slide" Target="slides/slide6.xml" /><Relationship Id="rId19" Type="http://schemas.openxmlformats.org/officeDocument/2006/relationships/slide" Target="slides/slide15.xml" /><Relationship Id="rId4" Type="http://schemas.openxmlformats.org/officeDocument/2006/relationships/slideMaster" Target="slideMasters/slideMaster1.xml" /><Relationship Id="rId9" Type="http://schemas.openxmlformats.org/officeDocument/2006/relationships/slide" Target="slides/slide5.xml" /><Relationship Id="rId14" Type="http://schemas.openxmlformats.org/officeDocument/2006/relationships/slide" Target="slides/slide10.xml" /><Relationship Id="rId22" Type="http://schemas.openxmlformats.org/officeDocument/2006/relationships/notesMaster" Target="notesMasters/notesMaster1.xml" /><Relationship Id="rId27" Type="http://schemas.openxmlformats.org/officeDocument/2006/relationships/tableStyles" Target="tableStyles.xml" 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8B8B31-1CFE-4A78-A796-40061C1B29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5D168-A009-4B34-B08F-277E0D6ABD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D47A4C-1800-412B-9042-C93F1924AECC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0C826E-30C5-4DD2-97CD-F700F8EBBF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1BE32A-EDDE-428D-8FA7-84F681D97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81FD62-43B6-432F-96E1-BCDE3916E1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83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0EB3D-2307-4317-8A1D-B47FA45245F0}" type="datetimeFigureOut">
              <a:rPr lang="en-US" noProof="0" smtClean="0"/>
              <a:t>4/9/2026</a:t>
            </a:fld>
            <a:endParaRPr lang="en-US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D78A92-0141-4330-8F3E-FAADFAC23844}" type="slidenum">
              <a:rPr lang="en-US" noProof="0" smtClean="0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48887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D78A92-0141-4330-8F3E-FAADFAC23844}" type="slidenum">
              <a:rPr lang="en-US" noProof="0" smtClean="0"/>
              <a:t>15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204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69412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90445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373957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333945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5263497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664545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5393389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99040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422067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808137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589724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E0AD4BE-B150-7C27-72CC-9AAE5D788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853335"/>
            <a:ext cx="10515602" cy="1377184"/>
          </a:xfrm>
        </p:spPr>
        <p:txBody>
          <a:bodyPr anchor="t" anchorCtr="0">
            <a:normAutofit/>
          </a:bodyPr>
          <a:lstStyle>
            <a:lvl1pPr>
              <a:defRPr lang="en-US" sz="3600" b="0" kern="1200" dirty="0">
                <a:solidFill>
                  <a:schemeClr val="accent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0AFDFBEE-19C9-1F3E-D9C5-CE7C9A3CDE1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7520" y="2651758"/>
            <a:ext cx="10515601" cy="34667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694F3BC-3534-81A8-CF89-6C667BDFE3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AD02BD2-09CD-274D-9F5F-AD0DCD9B1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F9880A97-BB72-4C49-B020-C005FF9D43B4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8683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505" y="1013460"/>
            <a:ext cx="8682990" cy="2230802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4505" y="3429000"/>
            <a:ext cx="8682989" cy="2230802"/>
          </a:xfrm>
        </p:spPr>
        <p:txBody>
          <a:bodyPr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lang="en-US" sz="1600" kern="1200" cap="all" spc="30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1pPr>
            <a:lvl2pPr marL="7429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2pPr>
            <a:lvl3pPr marL="12001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3pPr>
            <a:lvl4pPr marL="16573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4pPr>
            <a:lvl5pPr marL="2114550" indent="-285750" algn="ctr">
              <a:lnSpc>
                <a:spcPct val="110000"/>
              </a:lnSpc>
              <a:buFont typeface="Arial" panose="020B0604020202020204" pitchFamily="34" charset="0"/>
              <a:buChar char="•"/>
              <a:defRPr lang="en-US" sz="1600" kern="1200" cap="none" spc="0" baseline="0" dirty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67038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804672"/>
            <a:ext cx="10460736" cy="3255264"/>
          </a:xfrm>
        </p:spPr>
        <p:txBody>
          <a:bodyPr anchor="b">
            <a:noAutofit/>
          </a:bodyPr>
          <a:lstStyle>
            <a:lvl1pPr algn="ctr">
              <a:defRPr sz="72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2A3D73F7-77EC-4576-B541-20C032F462DC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3081573" y="4526280"/>
            <a:ext cx="6028854" cy="9144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 b="0" i="0" cap="all" spc="30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23959E-C8AF-2C32-A4AC-D79C711CACEF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991AA11-ABBF-BFA0-AACD-5E0262702116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CB6BE39-5971-4916-1DD7-91D7C3F312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CD84773-7D11-C9D4-A19C-4265A176EB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6819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5151334"/>
          </a:xfrm>
        </p:spPr>
        <p:txBody>
          <a:bodyPr anchor="t">
            <a:noAutofit/>
          </a:bodyPr>
          <a:lstStyle>
            <a:lvl1pPr algn="l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02CFA45-BBBD-162A-70AD-0B375405784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2915-BBAC-A1F0-BC9D-D3EBE576B6CA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1F310B-7369-4DED-0D01-CE0B2057D9A2}"/>
              </a:ext>
            </a:extLst>
          </p:cNvPr>
          <p:cNvCxnSpPr>
            <a:cxnSpLocks/>
          </p:cNvCxnSpPr>
          <p:nvPr/>
        </p:nvCxnSpPr>
        <p:spPr>
          <a:xfrm flipV="1">
            <a:off x="6096000" y="6281057"/>
            <a:ext cx="0" cy="249918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F80554-A5C0-4DF5-30C7-E8509F4304C5}"/>
              </a:ext>
            </a:extLst>
          </p:cNvPr>
          <p:cNvCxnSpPr>
            <a:cxnSpLocks/>
          </p:cNvCxnSpPr>
          <p:nvPr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7225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A9154-5D3B-2CDD-4D46-FD8867EFC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5151334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5228" y="853333"/>
            <a:ext cx="4997631" cy="515133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24DDF44-6A4A-DA03-A8BE-598DC99E89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7F1B34D-5253-5267-DEAA-572BCF19B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222400DF-651A-4479-9C74-9CDA47151016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234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4"/>
            <a:ext cx="4844142" cy="3939646"/>
          </a:xfrm>
        </p:spPr>
        <p:txBody>
          <a:bodyPr anchor="t">
            <a:noAutofit/>
          </a:bodyPr>
          <a:lstStyle>
            <a:lvl1pPr algn="l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4F555129-A180-DABF-24A6-1FBDA958D7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5029200"/>
            <a:ext cx="4844143" cy="1169761"/>
          </a:xfrm>
        </p:spPr>
        <p:txBody>
          <a:bodyPr anchor="b">
            <a:normAutofit/>
          </a:bodyPr>
          <a:lstStyle>
            <a:lvl1pPr marL="0" indent="0" algn="l">
              <a:buNone/>
              <a:defRPr sz="1800" b="0" i="0" cap="all" spc="30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E309519-3E22-556C-E01C-12137A86C9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2915-BBAC-A1F0-BC9D-D3EBE576B6CA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1F310B-7369-4DED-0D01-CE0B2057D9A2}"/>
              </a:ext>
            </a:extLst>
          </p:cNvPr>
          <p:cNvCxnSpPr>
            <a:cxnSpLocks/>
          </p:cNvCxnSpPr>
          <p:nvPr/>
        </p:nvCxnSpPr>
        <p:spPr>
          <a:xfrm flipV="1">
            <a:off x="6096000" y="6281057"/>
            <a:ext cx="0" cy="249918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F80554-A5C0-4DF5-30C7-E8509F4304C5}"/>
              </a:ext>
            </a:extLst>
          </p:cNvPr>
          <p:cNvCxnSpPr>
            <a:cxnSpLocks/>
          </p:cNvCxnSpPr>
          <p:nvPr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9335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567DDB1-50BA-053F-5044-13CD972E0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0F5E438-B3C9-C45F-E900-E6E1E3E8DB1B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3813681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656" y="850392"/>
            <a:ext cx="4844144" cy="540410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79B0408-F353-B756-0CA4-644E881D1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D520D91-492B-A641-A848-BEB3248265F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1201FEBF-D140-4633-9B70-3A503CA61AD4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031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CD9AFCA-1D1A-D583-A3C7-F086816A2315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4606A35E-DBB6-E5DF-F837-92E894DDB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99541C-E35F-E909-EAA3-7931F9A15E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B7DBB6-A2E9-1B6C-7928-330959C4624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28012" y="685800"/>
            <a:ext cx="5070020" cy="5486400"/>
          </a:xfrm>
          <a:custGeom>
            <a:avLst/>
            <a:gdLst>
              <a:gd name="connsiteX0" fmla="*/ 5070020 w 5070020"/>
              <a:gd name="connsiteY0" fmla="*/ 0 h 5486400"/>
              <a:gd name="connsiteX1" fmla="*/ 5070020 w 5070020"/>
              <a:gd name="connsiteY1" fmla="*/ 5486400 h 5486400"/>
              <a:gd name="connsiteX2" fmla="*/ 0 w 5070020"/>
              <a:gd name="connsiteY2" fmla="*/ 5486399 h 5486400"/>
              <a:gd name="connsiteX3" fmla="*/ 0 w 5070020"/>
              <a:gd name="connsiteY3" fmla="*/ 579095 h 5486400"/>
              <a:gd name="connsiteX4" fmla="*/ 268 w 5070020"/>
              <a:gd name="connsiteY4" fmla="*/ 579362 h 5486400"/>
              <a:gd name="connsiteX5" fmla="*/ 582189 w 5070020"/>
              <a:gd name="connsiteY5" fmla="*/ 266 h 5486400"/>
              <a:gd name="connsiteX6" fmla="*/ 581922 w 5070020"/>
              <a:gd name="connsiteY6" fmla="*/ 1 h 548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70020" h="5486400">
                <a:moveTo>
                  <a:pt x="5070020" y="0"/>
                </a:moveTo>
                <a:lnTo>
                  <a:pt x="5070020" y="5486400"/>
                </a:lnTo>
                <a:lnTo>
                  <a:pt x="0" y="5486399"/>
                </a:lnTo>
                <a:lnTo>
                  <a:pt x="0" y="579095"/>
                </a:lnTo>
                <a:lnTo>
                  <a:pt x="268" y="579362"/>
                </a:lnTo>
                <a:lnTo>
                  <a:pt x="582189" y="266"/>
                </a:lnTo>
                <a:lnTo>
                  <a:pt x="581922" y="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D560E12-0714-B7BE-9ED4-842720026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846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8BA9668-A78D-632D-FE8F-C62FE04F2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3813682"/>
            <a:ext cx="4898571" cy="218831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9144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3pPr>
            <a:lvl4pPr marL="13716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4pPr>
            <a:lvl5pPr marL="1828800" indent="0">
              <a:lnSpc>
                <a:spcPct val="100000"/>
              </a:lnSpc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7C70689-88FA-027C-9354-13057024FA9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8001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7145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1717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C0568B-88EF-9F5A-D39D-8C9C4C573B4B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A0033C0F-A5E1-BC81-421E-44E417A29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AEBBC30C-0776-B059-2CBB-EE2982ECB7D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B63BE472-3891-4216-B770-F52E53667131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8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E7B972-F1A2-D06A-182F-39D29608A6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7521" y="3880757"/>
            <a:ext cx="4844142" cy="212316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36484A33-80F1-829D-3F76-3176D5B8D51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9658" y="850392"/>
            <a:ext cx="4844142" cy="5153533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E3E568F1-97D8-9686-E47A-F520BE6B13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274116E6-D006-0D1F-861D-2B50A4E1D5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92C9618A-2189-4802-BD34-F288EF802528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801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0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D403-A15F-4A2F-B050-AB874136E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4181" y="2167821"/>
            <a:ext cx="8783638" cy="2522359"/>
          </a:xfrm>
        </p:spPr>
        <p:txBody>
          <a:bodyPr anchor="ctr">
            <a:noAutofit/>
          </a:bodyPr>
          <a:lstStyle>
            <a:lvl1pPr algn="ctr">
              <a:defRPr sz="5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DACFE4-8E78-B00D-57EB-B4DF9B274276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81E591-3873-6FE4-95EB-DA604EDF9EBC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7C9956-6C25-EB39-6997-F949957C6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88B0979-92D8-B3DF-EEC8-6ACC5604F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26106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8BA9668-A78D-632D-FE8F-C62FE04F2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3333"/>
            <a:ext cx="4844143" cy="2792412"/>
          </a:xfrm>
        </p:spPr>
        <p:txBody>
          <a:bodyPr anchor="t">
            <a:normAutofit/>
          </a:bodyPr>
          <a:lstStyle>
            <a:lvl1pPr algn="l"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0DA40DDB-ECC4-BF05-805D-56550EB8CB9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7521" y="3813681"/>
            <a:ext cx="4844142" cy="218831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7C70689-88FA-027C-9354-13057024FA9F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455228" y="853334"/>
            <a:ext cx="4898571" cy="5151334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347472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731520" indent="-3429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400" b="1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73152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097280" indent="-3429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400" b="0" kern="1200" dirty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C0568B-88EF-9F5A-D39D-8C9C4C573B4B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327025"/>
            <a:ext cx="0" cy="6160861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4585FEF-898A-BE20-0E49-7060E3A08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18484"/>
            <a:ext cx="3398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300" baseline="0">
                <a:solidFill>
                  <a:schemeClr val="accent3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0CAC8CAA-7BE1-C6AD-8CAA-7EF23C3F385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610600" y="61184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accent3"/>
                </a:solidFill>
              </a:defRPr>
            </a:lvl1pPr>
          </a:lstStyle>
          <a:p>
            <a:fld id="{8B1E16E5-E5E5-4583-9AF7-83D9607A8145}" type="datetime1">
              <a:rPr lang="en-US" smtClean="0"/>
              <a:t>4/9/2026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72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18" Type="http://schemas.openxmlformats.org/officeDocument/2006/relationships/slideLayout" Target="../slideLayouts/slideLayout18.xml" /><Relationship Id="rId3" Type="http://schemas.openxmlformats.org/officeDocument/2006/relationships/slideLayout" Target="../slideLayouts/slideLayout3.xml" /><Relationship Id="rId21" Type="http://schemas.openxmlformats.org/officeDocument/2006/relationships/slideLayout" Target="../slideLayouts/slideLayout21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17" Type="http://schemas.openxmlformats.org/officeDocument/2006/relationships/slideLayout" Target="../slideLayouts/slideLayout17.xml" /><Relationship Id="rId2" Type="http://schemas.openxmlformats.org/officeDocument/2006/relationships/slideLayout" Target="../slideLayouts/slideLayout2.xml" /><Relationship Id="rId16" Type="http://schemas.openxmlformats.org/officeDocument/2006/relationships/slideLayout" Target="../slideLayouts/slideLayout16.xml" /><Relationship Id="rId20" Type="http://schemas.openxmlformats.org/officeDocument/2006/relationships/slideLayout" Target="../slideLayouts/slideLayout20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24" Type="http://schemas.openxmlformats.org/officeDocument/2006/relationships/theme" Target="../theme/theme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23" Type="http://schemas.openxmlformats.org/officeDocument/2006/relationships/slideLayout" Target="../slideLayouts/slideLayout23.xml" /><Relationship Id="rId10" Type="http://schemas.openxmlformats.org/officeDocument/2006/relationships/slideLayout" Target="../slideLayouts/slideLayout10.xml" /><Relationship Id="rId19" Type="http://schemas.openxmlformats.org/officeDocument/2006/relationships/slideLayout" Target="../slideLayouts/slideLayout19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Relationship Id="rId22" Type="http://schemas.openxmlformats.org/officeDocument/2006/relationships/slideLayout" Target="../slideLayouts/slideLayout2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3B387-33D3-4D27-BE27-9B85ACC6AC8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337EE3-14AE-4B13-A448-7D8E65B50785}" type="slidenum">
              <a:rPr lang="en-IN" smtClean="0"/>
              <a:t>‹#›</a:t>
            </a:fld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08E0E-05B9-F221-80C3-04CA4E4ABA35}"/>
              </a:ext>
            </a:extLst>
          </p:cNvPr>
          <p:cNvSpPr/>
          <p:nvPr userDrawn="1"/>
        </p:nvSpPr>
        <p:spPr>
          <a:xfrm>
            <a:off x="361950" y="327025"/>
            <a:ext cx="11468100" cy="6203950"/>
          </a:xfrm>
          <a:prstGeom prst="rect">
            <a:avLst/>
          </a:prstGeom>
          <a:noFill/>
          <a:ln w="28575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algn="l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2231DE-625E-E718-1111-43464C19E14D}"/>
              </a:ext>
            </a:extLst>
          </p:cNvPr>
          <p:cNvGrpSpPr/>
          <p:nvPr userDrawn="1"/>
        </p:nvGrpSpPr>
        <p:grpSpPr>
          <a:xfrm>
            <a:off x="6096000" y="327025"/>
            <a:ext cx="0" cy="6203950"/>
            <a:chOff x="6096000" y="327025"/>
            <a:chExt cx="0" cy="62039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C307328-46EA-E83E-5BCB-1C57369D3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6281057"/>
              <a:ext cx="0" cy="249918"/>
            </a:xfrm>
            <a:prstGeom prst="line">
              <a:avLst/>
            </a:prstGeom>
            <a:ln w="28575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03F6C5-78F9-FA16-B62C-389A70997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27025"/>
              <a:ext cx="0" cy="249918"/>
            </a:xfrm>
            <a:prstGeom prst="line">
              <a:avLst/>
            </a:prstGeom>
            <a:ln w="28575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8292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653" r:id="rId14"/>
    <p:sldLayoutId id="2147483718" r:id="rId15"/>
    <p:sldLayoutId id="2147483712" r:id="rId16"/>
    <p:sldLayoutId id="2147483719" r:id="rId17"/>
    <p:sldLayoutId id="2147483705" r:id="rId18"/>
    <p:sldLayoutId id="2147483713" r:id="rId19"/>
    <p:sldLayoutId id="2147483699" r:id="rId20"/>
    <p:sldLayoutId id="2147483716" r:id="rId21"/>
    <p:sldLayoutId id="2147483714" r:id="rId22"/>
    <p:sldLayoutId id="2147483720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F26B43"/>
          </p15:clr>
        </p15:guide>
        <p15:guide id="2" pos="574" userDrawn="1">
          <p15:clr>
            <a:srgbClr val="F26B43"/>
          </p15:clr>
        </p15:guide>
        <p15:guide id="3" pos="7106" userDrawn="1">
          <p15:clr>
            <a:srgbClr val="F26B43"/>
          </p15:clr>
        </p15:guide>
        <p15:guide id="4" orient="horz" pos="3748" userDrawn="1">
          <p15:clr>
            <a:srgbClr val="F26B43"/>
          </p15:clr>
        </p15:guide>
        <p15:guide id="5" pos="4407" userDrawn="1">
          <p15:clr>
            <a:srgbClr val="F26B43"/>
          </p15:clr>
        </p15:guide>
        <p15:guide id="6" pos="3273" userDrawn="1">
          <p15:clr>
            <a:srgbClr val="F26B43"/>
          </p15:clr>
        </p15:guide>
        <p15:guide id="7" pos="3840" userDrawn="1">
          <p15:clr>
            <a:srgbClr val="F26B43"/>
          </p15:clr>
        </p15:guide>
        <p15:guide id="8" orient="horz" pos="2160" userDrawn="1">
          <p15:clr>
            <a:srgbClr val="F26B43"/>
          </p15:clr>
        </p15:guide>
        <p15:guide id="9" pos="302" userDrawn="1">
          <p15:clr>
            <a:srgbClr val="F26B43"/>
          </p15:clr>
        </p15:guide>
        <p15:guide id="10" pos="737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 /><Relationship Id="rId1" Type="http://schemas.openxmlformats.org/officeDocument/2006/relationships/slideLayout" Target="../slideLayouts/slideLayout12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12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12.xml" 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image" Target="../media/image4.jpeg" /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2.xml" 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0.04805?utm_source=chatgpt.com" TargetMode="External" /><Relationship Id="rId2" Type="http://schemas.openxmlformats.org/officeDocument/2006/relationships/hyperlink" Target="https://aclanthology.org/2020.acl-main.372/?utm_source=chatgpt.com" TargetMode="External" /><Relationship Id="rId1" Type="http://schemas.openxmlformats.org/officeDocument/2006/relationships/slideLayout" Target="../slideLayouts/slideLayout13.xml" /><Relationship Id="rId5" Type="http://schemas.openxmlformats.org/officeDocument/2006/relationships/hyperlink" Target="https://publisher.uthm.edu.my/ojs/index.php/jscdm/article/view/17843?utm_source=chatgpt.com" TargetMode="External" /><Relationship Id="rId4" Type="http://schemas.openxmlformats.org/officeDocument/2006/relationships/hyperlink" Target="https://arxiv.org/abs/2601.18162?utm_source=chatgpt.com" TargetMode="External" 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A1776D-57FF-3B35-2A67-3D8709DD3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20960"/>
            <a:ext cx="10515602" cy="1930425"/>
          </a:xfrm>
        </p:spPr>
        <p:txBody>
          <a:bodyPr>
            <a:noAutofit/>
          </a:bodyPr>
          <a:lstStyle/>
          <a:p>
            <a:pPr algn="ctr"/>
            <a:br>
              <a:rPr lang="en-US" dirty="0"/>
            </a:br>
            <a:r>
              <a:rPr lang="en-US" b="1" u="sng" dirty="0">
                <a:solidFill>
                  <a:schemeClr val="tx1"/>
                </a:solidFill>
              </a:rPr>
              <a:t>MULTI-LABEL EMOTION DETECTION IN TEXT</a:t>
            </a:r>
            <a:br>
              <a:rPr lang="en-US" b="1" u="sng" dirty="0">
                <a:solidFill>
                  <a:schemeClr val="tx1"/>
                </a:solidFill>
              </a:rPr>
            </a:br>
            <a:r>
              <a:rPr lang="en-US" b="1" u="sng" dirty="0">
                <a:solidFill>
                  <a:schemeClr val="tx1"/>
                </a:solidFill>
              </a:rPr>
              <a:t>USING </a:t>
            </a:r>
            <a:r>
              <a:rPr lang="en-IN" b="1" u="sng" dirty="0">
                <a:solidFill>
                  <a:schemeClr val="tx1"/>
                </a:solidFill>
              </a:rPr>
              <a:t>Ro</a:t>
            </a:r>
            <a:r>
              <a:rPr lang="en-US" b="1" u="sng" dirty="0">
                <a:solidFill>
                  <a:schemeClr val="tx1"/>
                </a:solidFill>
              </a:rPr>
              <a:t>BERT</a:t>
            </a:r>
            <a:r>
              <a:rPr lang="en-IN" b="1" u="sng" dirty="0">
                <a:solidFill>
                  <a:schemeClr val="tx1"/>
                </a:solidFill>
              </a:rPr>
              <a:t>a </a:t>
            </a:r>
            <a:r>
              <a:rPr lang="en-US" b="1" u="sng" dirty="0">
                <a:solidFill>
                  <a:schemeClr val="tx1"/>
                </a:solidFill>
              </a:rPr>
              <a:t>WITH IMBALANCE-AWARE OPTIMIZATION</a:t>
            </a:r>
            <a:endParaRPr lang="en-IN" b="1" u="sng" dirty="0">
              <a:solidFill>
                <a:schemeClr val="tx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C6837F-9FDA-4B25-9501-2706EF0702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80" y="2177143"/>
            <a:ext cx="10948306" cy="4256314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>
                <a:latin typeface="Bell MT" panose="02020503060305020303" pitchFamily="18" charset="0"/>
              </a:rPr>
              <a:t>PRESENTED BY :</a:t>
            </a:r>
          </a:p>
          <a:p>
            <a:pPr marL="0" indent="0" algn="l">
              <a:buNone/>
            </a:pPr>
            <a:r>
              <a:rPr lang="en-US" dirty="0">
                <a:latin typeface="Bell MT" panose="02020503060305020303" pitchFamily="18" charset="0"/>
              </a:rPr>
              <a:t>                           NAMALA LAKSHMI PRASANNA(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23BTRCL224</a:t>
            </a:r>
            <a:r>
              <a:rPr lang="en-US" dirty="0">
                <a:latin typeface="Bell MT" panose="02020503060305020303" pitchFamily="18" charset="0"/>
              </a:rPr>
              <a:t>)</a:t>
            </a:r>
          </a:p>
          <a:p>
            <a:pPr marL="0" indent="0" algn="l">
              <a:buNone/>
            </a:pPr>
            <a:r>
              <a:rPr lang="en-US" dirty="0">
                <a:latin typeface="Bell MT" panose="02020503060305020303" pitchFamily="18" charset="0"/>
              </a:rPr>
              <a:t>                           I LEELA V</a:t>
            </a:r>
            <a:r>
              <a:rPr lang="en-IN" dirty="0">
                <a:latin typeface="Bell MT" panose="02020503060305020303" pitchFamily="18" charset="0"/>
              </a:rPr>
              <a:t>Y</a:t>
            </a:r>
            <a:r>
              <a:rPr lang="en-US" dirty="0">
                <a:latin typeface="Bell MT" panose="02020503060305020303" pitchFamily="18" charset="0"/>
              </a:rPr>
              <a:t>SHNAVI(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23BTRCL103</a:t>
            </a:r>
            <a:r>
              <a:rPr lang="en-US" dirty="0">
                <a:latin typeface="Bell MT" panose="02020503060305020303" pitchFamily="18" charset="0"/>
              </a:rPr>
              <a:t>)</a:t>
            </a:r>
          </a:p>
          <a:p>
            <a:pPr marL="0" indent="0" algn="l">
              <a:buNone/>
            </a:pPr>
            <a:r>
              <a:rPr lang="en-US" dirty="0">
                <a:latin typeface="Bell MT" panose="02020503060305020303" pitchFamily="18" charset="0"/>
              </a:rPr>
              <a:t>                           LIKITHA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H(23BTRCL051)</a:t>
            </a:r>
          </a:p>
          <a:p>
            <a:pPr marL="0" indent="0" algn="l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KEERTHI KM(23BTRCL106)</a:t>
            </a:r>
          </a:p>
          <a:p>
            <a:pPr marL="0" indent="0" algn="l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JEEVAN M(23BTRCL194)</a:t>
            </a:r>
          </a:p>
          <a:p>
            <a:pPr marL="0" indent="0" algn="l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JAI BALAJI (23BTRCL104)</a:t>
            </a:r>
          </a:p>
          <a:p>
            <a:pPr algn="l"/>
            <a:endParaRPr lang="en-US" dirty="0">
              <a:latin typeface="Bell MT" panose="02020503060305020303" pitchFamily="18" charset="0"/>
            </a:endParaRPr>
          </a:p>
          <a:p>
            <a:pPr algn="l"/>
            <a:r>
              <a:rPr lang="en-US" dirty="0">
                <a:latin typeface="Bell MT" panose="02020503060305020303" pitchFamily="18" charset="0"/>
              </a:rPr>
              <a:t>GUIDED BY : DR P RENUKADEVI </a:t>
            </a:r>
          </a:p>
          <a:p>
            <a:pPr marL="0" indent="0">
              <a:buNone/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                           Assistant Professor / CSE- AIML</a:t>
            </a:r>
          </a:p>
          <a:p>
            <a:pPr algn="l"/>
            <a:endParaRPr lang="en-US" dirty="0">
              <a:latin typeface="Bell MT" panose="02020503060305020303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300F88-2DC9-A926-41D1-EF2F2937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897" y="87742"/>
            <a:ext cx="6672205" cy="9839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75474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033" y="2874695"/>
            <a:ext cx="4402067" cy="1072195"/>
          </a:xfrm>
          <a:noFill/>
        </p:spPr>
        <p:txBody>
          <a:bodyPr anchor="ctr">
            <a:noAutofit/>
          </a:bodyPr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5479" y="668234"/>
            <a:ext cx="7428488" cy="5736990"/>
          </a:xfrm>
          <a:noFill/>
        </p:spPr>
        <p:txBody>
          <a:bodyPr>
            <a:normAutofit/>
          </a:bodyPr>
          <a:lstStyle/>
          <a:p>
            <a:pPr algn="l"/>
            <a:r>
              <a:rPr lang="en-US" sz="2900" i="1"/>
              <a:t>ABSTRACT</a:t>
            </a:r>
          </a:p>
          <a:p>
            <a:pPr algn="l"/>
            <a:r>
              <a:rPr lang="en-US" sz="2900" i="1"/>
              <a:t> INTRODUCTION</a:t>
            </a:r>
          </a:p>
          <a:p>
            <a:pPr algn="l"/>
            <a:r>
              <a:rPr lang="en-US" sz="2900" i="1"/>
              <a:t> PROBLEM STATEMENT</a:t>
            </a:r>
          </a:p>
          <a:p>
            <a:pPr algn="l"/>
            <a:r>
              <a:rPr lang="en-US" sz="2900" i="1"/>
              <a:t> EXISTING SYSTEM</a:t>
            </a:r>
          </a:p>
          <a:p>
            <a:r>
              <a:rPr lang="en-US" sz="2900" i="1"/>
              <a:t> BLOCK DIAGRAM</a:t>
            </a:r>
          </a:p>
          <a:p>
            <a:pPr algn="l"/>
            <a:r>
              <a:rPr lang="en-US" sz="2900" i="1"/>
              <a:t> LITERATURE SURVEY </a:t>
            </a:r>
          </a:p>
          <a:p>
            <a:pPr algn="l"/>
            <a:r>
              <a:rPr lang="en-US" sz="2900" i="1"/>
              <a:t> PROPOSED SYSTEM</a:t>
            </a:r>
          </a:p>
          <a:p>
            <a:pPr algn="l"/>
            <a:r>
              <a:rPr lang="en-US" sz="2900" i="1"/>
              <a:t> BLOCK DIAGRAM</a:t>
            </a:r>
          </a:p>
          <a:p>
            <a:pPr algn="l"/>
            <a:r>
              <a:rPr lang="en-US" sz="2900" i="1"/>
              <a:t>PROPOSED SYSTEM OVERVIEW</a:t>
            </a:r>
          </a:p>
          <a:p>
            <a:pPr algn="l"/>
            <a:r>
              <a:rPr lang="en-US" sz="2900" i="1"/>
              <a:t> CONCLUSION</a:t>
            </a:r>
          </a:p>
          <a:p>
            <a:pPr algn="l"/>
            <a:r>
              <a:rPr lang="en-US" sz="2900" i="1"/>
              <a:t> REFERENCE</a:t>
            </a:r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52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40441E9-24E3-2BA2-1DD5-5A6379183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3" y="471576"/>
            <a:ext cx="10515602" cy="570863"/>
          </a:xfrm>
        </p:spPr>
        <p:txBody>
          <a:bodyPr>
            <a:noAutofit/>
          </a:bodyPr>
          <a:lstStyle/>
          <a:p>
            <a:r>
              <a:rPr lang="en-US" b="1">
                <a:solidFill>
                  <a:schemeClr val="tx1"/>
                </a:solidFill>
              </a:rPr>
              <a:t>   ABSTRACT</a:t>
            </a:r>
            <a:endParaRPr lang="en-IN" b="1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C3D23-6620-4855-20BA-F9AACD47E717}"/>
              </a:ext>
            </a:extLst>
          </p:cNvPr>
          <p:cNvSpPr>
            <a:spLocks noGrp="1" noChangeArrowheads="1"/>
          </p:cNvSpPr>
          <p:nvPr>
            <p:ph sz="quarter" idx="14"/>
          </p:nvPr>
        </p:nvSpPr>
        <p:spPr bwMode="auto">
          <a:xfrm>
            <a:off x="577008" y="1483084"/>
            <a:ext cx="11037984" cy="4999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Emotion detection in text has evolved into a </a:t>
            </a:r>
            <a:r>
              <a:rPr lang="en-US" b="1"/>
              <a:t>multi-label classification problem</a:t>
            </a:r>
            <a:r>
              <a:rPr lang="en-US"/>
              <a:t>, where a single sentence can express multiple emotions simultaneously.</a:t>
            </a:r>
          </a:p>
          <a:p>
            <a:r>
              <a:rPr lang="en-US"/>
              <a:t>This work proposes a </a:t>
            </a:r>
            <a:r>
              <a:rPr lang="en-US" b="1"/>
              <a:t>transformer-based framework using </a:t>
            </a:r>
            <a:r>
              <a:rPr lang="en-US" b="1" err="1"/>
              <a:t>RoBERTa</a:t>
            </a:r>
            <a:r>
              <a:rPr lang="en-US" b="1"/>
              <a:t>-large</a:t>
            </a:r>
            <a:r>
              <a:rPr lang="en-US"/>
              <a:t> for fine-grained emotion detection on the </a:t>
            </a:r>
            <a:r>
              <a:rPr lang="en-US" b="1" err="1"/>
              <a:t>GoEmotions</a:t>
            </a:r>
            <a:r>
              <a:rPr lang="en-US" b="1"/>
              <a:t> dataset (121K samples, 27 emotions + neutral)</a:t>
            </a:r>
            <a:r>
              <a:rPr lang="en-US"/>
              <a:t>.</a:t>
            </a:r>
          </a:p>
          <a:p>
            <a:r>
              <a:rPr lang="en-US"/>
              <a:t>To address </a:t>
            </a:r>
            <a:r>
              <a:rPr lang="en-US" b="1"/>
              <a:t>class imbalance</a:t>
            </a:r>
            <a:r>
              <a:rPr lang="en-US"/>
              <a:t>, the model uses </a:t>
            </a:r>
            <a:r>
              <a:rPr lang="en-US" b="1"/>
              <a:t>Binary Cross-Entropy with class-balanced </a:t>
            </a:r>
            <a:r>
              <a:rPr lang="en-US" b="1" err="1"/>
              <a:t>pos_weight</a:t>
            </a:r>
            <a:r>
              <a:rPr lang="en-US"/>
              <a:t>, improving performance on minority emotions.</a:t>
            </a:r>
          </a:p>
          <a:p>
            <a:r>
              <a:rPr lang="en-US"/>
              <a:t>An </a:t>
            </a:r>
            <a:r>
              <a:rPr lang="en-US" b="1"/>
              <a:t>adaptive threshold tuning approach</a:t>
            </a:r>
            <a:r>
              <a:rPr lang="en-US"/>
              <a:t> is applied to optimize the </a:t>
            </a:r>
            <a:r>
              <a:rPr lang="en-US" b="1"/>
              <a:t>Micro F1-score</a:t>
            </a:r>
            <a:r>
              <a:rPr lang="en-US"/>
              <a:t> instead of using a fixed threshold.</a:t>
            </a:r>
          </a:p>
          <a:p>
            <a:r>
              <a:rPr lang="en-US"/>
              <a:t>The model is evaluated using </a:t>
            </a:r>
            <a:r>
              <a:rPr lang="en-US" b="1"/>
              <a:t>F1-score, precision, and recall</a:t>
            </a:r>
            <a:r>
              <a:rPr lang="en-US"/>
              <a:t>, demonstrating strong performance and scalability for real-world applications.</a:t>
            </a:r>
          </a:p>
          <a:p>
            <a:pPr marL="0" indent="0">
              <a:buNone/>
            </a:pPr>
            <a:endParaRPr lang="en-US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06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9AC41-30E8-D4AE-5C0C-32816A23D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323" y="434830"/>
            <a:ext cx="10515602" cy="42241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chemeClr val="tx1"/>
                </a:solidFill>
              </a:rPr>
              <a:t>INTRODUCTION</a:t>
            </a:r>
            <a:endParaRPr lang="en-IN" b="1">
              <a:solidFill>
                <a:schemeClr val="tx1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853FF21-9DB9-CAC0-D0ED-E27254C17A28}"/>
              </a:ext>
            </a:extLst>
          </p:cNvPr>
          <p:cNvSpPr>
            <a:spLocks noGrp="1" noChangeArrowheads="1"/>
          </p:cNvSpPr>
          <p:nvPr>
            <p:ph sz="quarter" idx="14"/>
          </p:nvPr>
        </p:nvSpPr>
        <p:spPr bwMode="auto">
          <a:xfrm>
            <a:off x="526324" y="857248"/>
            <a:ext cx="8375306" cy="57923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Rapid growth of </a:t>
            </a:r>
            <a:r>
              <a:rPr lang="en-US" b="1"/>
              <a:t>social media and online text</a:t>
            </a:r>
            <a:r>
              <a:rPr lang="en-US"/>
              <a:t> has increased the need for emotion detection </a:t>
            </a:r>
          </a:p>
          <a:p>
            <a:r>
              <a:rPr lang="en-US"/>
              <a:t>Unlike sentiment analysis, emotion detection identifies </a:t>
            </a:r>
            <a:r>
              <a:rPr lang="en-US" b="1"/>
              <a:t>multiple emotions</a:t>
            </a:r>
            <a:r>
              <a:rPr lang="en-US"/>
              <a:t> such as joy, anger, sadness, etc. </a:t>
            </a:r>
          </a:p>
          <a:p>
            <a:r>
              <a:rPr lang="en-US"/>
              <a:t>Real-world text often expresses </a:t>
            </a:r>
            <a:r>
              <a:rPr lang="en-US" b="1"/>
              <a:t>multiple emotions simultaneously</a:t>
            </a:r>
            <a:r>
              <a:rPr lang="en-US"/>
              <a:t>, making it a </a:t>
            </a:r>
            <a:r>
              <a:rPr lang="en-US" b="1"/>
              <a:t>multi-label classification problem</a:t>
            </a:r>
            <a:r>
              <a:rPr lang="en-US"/>
              <a:t> </a:t>
            </a:r>
          </a:p>
          <a:p>
            <a:r>
              <a:rPr lang="en-US"/>
              <a:t>Traditional methods (lexicon-based, SVM, CNN) lack </a:t>
            </a:r>
            <a:r>
              <a:rPr lang="en-US" b="1"/>
              <a:t>deep contextual understanding</a:t>
            </a:r>
            <a:r>
              <a:rPr lang="en-US"/>
              <a:t> </a:t>
            </a:r>
          </a:p>
          <a:p>
            <a:r>
              <a:rPr lang="en-US"/>
              <a:t>Transformer models like </a:t>
            </a:r>
            <a:r>
              <a:rPr lang="en-US" b="1" err="1"/>
              <a:t>RoBERTa</a:t>
            </a:r>
            <a:r>
              <a:rPr lang="en-US"/>
              <a:t> capture </a:t>
            </a:r>
            <a:r>
              <a:rPr lang="en-US" b="1"/>
              <a:t>rich semantic and contextual relationships</a:t>
            </a:r>
            <a:r>
              <a:rPr lang="en-US"/>
              <a:t> </a:t>
            </a:r>
          </a:p>
          <a:p>
            <a:r>
              <a:rPr lang="en-US"/>
              <a:t>However, challenges like </a:t>
            </a:r>
            <a:r>
              <a:rPr lang="en-US" b="1"/>
              <a:t>class imbalance</a:t>
            </a:r>
            <a:r>
              <a:rPr lang="en-US"/>
              <a:t> and </a:t>
            </a:r>
            <a:r>
              <a:rPr lang="en-US" b="1"/>
              <a:t>threshold selection</a:t>
            </a:r>
            <a:r>
              <a:rPr lang="en-US"/>
              <a:t> still affect performance </a:t>
            </a:r>
          </a:p>
          <a:p>
            <a:r>
              <a:rPr lang="en-US"/>
              <a:t>This work focuses on building an </a:t>
            </a:r>
            <a:r>
              <a:rPr lang="en-US" b="1"/>
              <a:t>imbalance-aware, transformer-based emotion detection system</a:t>
            </a:r>
            <a:r>
              <a:rPr lang="en-US"/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5DB86-FEDD-CF49-0064-F17102625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00" y="3519186"/>
            <a:ext cx="3501219" cy="290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05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CF1D9-7152-DA05-AAC1-77E0AB180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858" y="374044"/>
            <a:ext cx="10515602" cy="628492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  <a:latin typeface="+mn-lt"/>
              </a:rPr>
              <a:t>PROBLEM STATEMENT</a:t>
            </a:r>
            <a:endParaRPr lang="en-IN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9685D75-5315-F790-41D7-1BBC91B2CE5B}"/>
              </a:ext>
            </a:extLst>
          </p:cNvPr>
          <p:cNvSpPr>
            <a:spLocks noGrp="1" noChangeArrowheads="1"/>
          </p:cNvSpPr>
          <p:nvPr>
            <p:ph sz="quarter" idx="14"/>
          </p:nvPr>
        </p:nvSpPr>
        <p:spPr bwMode="auto">
          <a:xfrm>
            <a:off x="769939" y="851645"/>
            <a:ext cx="9927440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systems mainly focus on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single-label or basic sentiment classification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missing fine-grained emotions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Real-world text often contains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overlapping emotions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requiring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multi-label classification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US" altLang="en-US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GoEmotions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dataset is highly imbalanced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where some emotions are frequent and others are rare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Traditional and basic deep learning models fail to handle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context, imbalance, and label dependencies effectively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Using a fixed threshold (e.g., 0.5) leads to 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suboptimal prediction performance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1953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96488-A9F7-81A6-2911-7D61B0BE5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298" y="485942"/>
            <a:ext cx="10515602" cy="730537"/>
          </a:xfrm>
        </p:spPr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EXISTING SYSTEM</a:t>
            </a:r>
            <a:endParaRPr lang="en-IN" b="1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6D595-88DE-F91E-3F06-7175EFEDF6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3964" y="1298121"/>
            <a:ext cx="10659157" cy="4963885"/>
          </a:xfrm>
        </p:spPr>
        <p:txBody>
          <a:bodyPr/>
          <a:lstStyle/>
          <a:p>
            <a:r>
              <a:rPr lang="en-US"/>
              <a:t>Traditional emotion detection systems rely on rule-based approaches or shallow machine learning models like SVM and Naïve Bayes, which lack contextual understanding.</a:t>
            </a:r>
          </a:p>
          <a:p>
            <a:r>
              <a:rPr lang="en-US"/>
              <a:t>Many existing models fail to capture the nuances of human emotions due to limited contextual awareness.</a:t>
            </a:r>
          </a:p>
          <a:p>
            <a:r>
              <a:rPr lang="en-US"/>
              <a:t>Existing systems often struggle with multilingual text and informal language (e.g., social media posts).</a:t>
            </a:r>
          </a:p>
          <a:p>
            <a:r>
              <a:rPr lang="en-US"/>
              <a:t>Lack of real-time usability and user-friendly interfaces for non-technical users.</a:t>
            </a:r>
          </a:p>
          <a:p>
            <a:r>
              <a:rPr lang="en-US"/>
              <a:t>Limited scalability and computational efficiency in handling large datasets.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2729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145C7-DB3D-DC0F-EE34-40A8043BB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27" y="461450"/>
            <a:ext cx="10515602" cy="950971"/>
          </a:xfrm>
        </p:spPr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BLOCK DIAGRAM</a:t>
            </a:r>
            <a:endParaRPr lang="en-IN" b="1">
              <a:solidFill>
                <a:schemeClr val="tx1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>
          <a:xfrm>
            <a:off x="3430683" y="936935"/>
            <a:ext cx="5017578" cy="536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309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3F8164-20D1-7278-67F2-C50FE7E3B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805" y="428793"/>
            <a:ext cx="10515602" cy="689714"/>
          </a:xfrm>
        </p:spPr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LITERATURE SURVEY</a:t>
            </a:r>
            <a:endParaRPr lang="en-IN" b="1">
              <a:solidFill>
                <a:schemeClr val="tx1"/>
              </a:solidFill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E7EDDFE-7FC1-5DDE-2B5C-80F82D7E64E6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233748277"/>
              </p:ext>
            </p:extLst>
          </p:nvPr>
        </p:nvGraphicFramePr>
        <p:xfrm>
          <a:off x="357352" y="1118507"/>
          <a:ext cx="11456275" cy="5141903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2291255">
                  <a:extLst>
                    <a:ext uri="{9D8B030D-6E8A-4147-A177-3AD203B41FA5}">
                      <a16:colId xmlns:a16="http://schemas.microsoft.com/office/drawing/2014/main" val="975064837"/>
                    </a:ext>
                  </a:extLst>
                </a:gridCol>
                <a:gridCol w="2291255">
                  <a:extLst>
                    <a:ext uri="{9D8B030D-6E8A-4147-A177-3AD203B41FA5}">
                      <a16:colId xmlns:a16="http://schemas.microsoft.com/office/drawing/2014/main" val="1396822520"/>
                    </a:ext>
                  </a:extLst>
                </a:gridCol>
                <a:gridCol w="2291255">
                  <a:extLst>
                    <a:ext uri="{9D8B030D-6E8A-4147-A177-3AD203B41FA5}">
                      <a16:colId xmlns:a16="http://schemas.microsoft.com/office/drawing/2014/main" val="3340581444"/>
                    </a:ext>
                  </a:extLst>
                </a:gridCol>
                <a:gridCol w="2291255">
                  <a:extLst>
                    <a:ext uri="{9D8B030D-6E8A-4147-A177-3AD203B41FA5}">
                      <a16:colId xmlns:a16="http://schemas.microsoft.com/office/drawing/2014/main" val="3127372400"/>
                    </a:ext>
                  </a:extLst>
                </a:gridCol>
                <a:gridCol w="2291255">
                  <a:extLst>
                    <a:ext uri="{9D8B030D-6E8A-4147-A177-3AD203B41FA5}">
                      <a16:colId xmlns:a16="http://schemas.microsoft.com/office/drawing/2014/main" val="3568196431"/>
                    </a:ext>
                  </a:extLst>
                </a:gridCol>
              </a:tblGrid>
              <a:tr h="794376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STUDY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METHODOLOGY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DATASET USED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ACCURACY 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EVALUATION METRICS</a:t>
                      </a:r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1250633"/>
                  </a:ext>
                </a:extLst>
              </a:tr>
              <a:tr h="1101794">
                <a:tc>
                  <a:txBody>
                    <a:bodyPr/>
                    <a:lstStyle/>
                    <a:p>
                      <a:r>
                        <a:rPr lang="da-DK"/>
                        <a:t>A. S. A. Mohamed et al. (2023)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SVM, Naïve Bayes, Decision Trees with TF-IDF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Emotion-</a:t>
                      </a:r>
                      <a:r>
                        <a:rPr lang="en-IN" err="1"/>
                        <a:t>labeled</a:t>
                      </a:r>
                      <a:r>
                        <a:rPr lang="en-IN"/>
                        <a:t> text 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50 %to 60%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Accuracy, Precision, Recall, F1-score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8241378"/>
                  </a:ext>
                </a:extLst>
              </a:tr>
              <a:tr h="1081911">
                <a:tc>
                  <a:txBody>
                    <a:bodyPr/>
                    <a:lstStyle/>
                    <a:p>
                      <a:r>
                        <a:rPr lang="da-DK"/>
                        <a:t>A. Aldayel et al. (2021)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BERT + CNN hybrid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Benchmark emotion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60% to 65%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Accuracy, F1-score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9920680"/>
                  </a:ext>
                </a:extLst>
              </a:tr>
              <a:tr h="1081911">
                <a:tc>
                  <a:txBody>
                    <a:bodyPr/>
                    <a:lstStyle/>
                    <a:p>
                      <a:r>
                        <a:rPr lang="en-IN"/>
                        <a:t>B. Y. B. Yogesh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Deep learning with attention mechanisms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Large-scale text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70%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Accuracy, F1-score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64776"/>
                  </a:ext>
                </a:extLst>
              </a:tr>
              <a:tr h="1081911">
                <a:tc>
                  <a:txBody>
                    <a:bodyPr/>
                    <a:lstStyle/>
                    <a:p>
                      <a:r>
                        <a:rPr lang="fr-FR"/>
                        <a:t>J. </a:t>
                      </a:r>
                      <a:r>
                        <a:rPr lang="fr-FR" err="1"/>
                        <a:t>Devlin</a:t>
                      </a:r>
                      <a:r>
                        <a:rPr lang="fr-FR"/>
                        <a:t> et al. (2019)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BERT (Transformer-based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GLUE &amp; NLP benchmarks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68%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Accuracy, F1, Task-specific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40608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122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87C1F-0E0C-A684-39B1-57C6BE41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834" y="295319"/>
            <a:ext cx="10189977" cy="56611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chemeClr val="tx1"/>
                </a:solidFill>
              </a:rPr>
              <a:t>PROPOSED SYSTEM</a:t>
            </a:r>
            <a:endParaRPr lang="en-IN" b="1">
              <a:solidFill>
                <a:schemeClr val="tx1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74D03EB-48F2-9A95-34A8-035E0E83F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834" y="943214"/>
            <a:ext cx="10895241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Developed a </a:t>
            </a:r>
            <a:r>
              <a:rPr lang="en-US" sz="2400" b="1"/>
              <a:t>multi-label fine-grained emotion detection framework using </a:t>
            </a:r>
            <a:r>
              <a:rPr lang="en-US" sz="2400" b="1" err="1"/>
              <a:t>RoBERTa</a:t>
            </a:r>
            <a:r>
              <a:rPr lang="en-US" sz="2400" b="1"/>
              <a:t>-large</a:t>
            </a:r>
            <a:r>
              <a:rPr lang="en-US" sz="2400"/>
              <a:t> to capture deep contextual relationships through transformer-based bidirectional self-attention.</a:t>
            </a:r>
          </a:p>
          <a:p>
            <a:endParaRPr lang="en-US" sz="2400"/>
          </a:p>
          <a:p>
            <a:r>
              <a:rPr lang="en-US" sz="2400"/>
              <a:t>The model is trained on the </a:t>
            </a:r>
            <a:r>
              <a:rPr lang="en-US" sz="2400" b="1" err="1"/>
              <a:t>GoEmotions</a:t>
            </a:r>
            <a:r>
              <a:rPr lang="en-US" sz="2400" b="1"/>
              <a:t> dataset (121,000 comments, 27 emotions + neutral)</a:t>
            </a:r>
            <a:r>
              <a:rPr lang="en-US" sz="2400"/>
              <a:t> to improve generalization and robustness.</a:t>
            </a:r>
          </a:p>
          <a:p>
            <a:endParaRPr lang="en-US" sz="2400"/>
          </a:p>
          <a:p>
            <a:r>
              <a:rPr lang="en-US" sz="2400"/>
              <a:t>Unlike traditional BERT-based systems, this approach leverages a </a:t>
            </a:r>
            <a:r>
              <a:rPr lang="en-US" sz="2400" b="1"/>
              <a:t>larger pre-trained model (</a:t>
            </a:r>
            <a:r>
              <a:rPr lang="en-US" sz="2400" b="1" err="1"/>
              <a:t>RoBERTa</a:t>
            </a:r>
            <a:r>
              <a:rPr lang="en-US" sz="2400" b="1"/>
              <a:t>-large)</a:t>
            </a:r>
            <a:r>
              <a:rPr lang="en-US" sz="2400"/>
              <a:t> for enhanced semantic understanding and feature representation.</a:t>
            </a:r>
          </a:p>
          <a:p>
            <a:endParaRPr lang="en-US" sz="2400"/>
          </a:p>
          <a:p>
            <a:r>
              <a:rPr lang="en-US" sz="2400"/>
              <a:t> Adaptive </a:t>
            </a:r>
            <a:r>
              <a:rPr lang="en-US" sz="2400" b="1"/>
              <a:t>threshold tuning (0.2 – 0.6 range)</a:t>
            </a:r>
            <a:r>
              <a:rPr lang="en-US" sz="2400"/>
              <a:t> is applied to maximize </a:t>
            </a:r>
            <a:r>
              <a:rPr lang="en-US" sz="2400" b="1"/>
              <a:t>Micro F1-score</a:t>
            </a:r>
            <a:r>
              <a:rPr lang="en-US" sz="2400"/>
              <a:t>, instead of using a fixed threshold.</a:t>
            </a:r>
          </a:p>
          <a:p>
            <a:endParaRPr lang="en-US" sz="2400"/>
          </a:p>
          <a:p>
            <a:endParaRPr lang="en-US" sz="240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E0FF3B0-F087-7EA6-705C-568B0CA584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2475" y="4321175"/>
            <a:ext cx="10515600" cy="25368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9737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8AD6F-9376-66A7-8A16-763ACBBC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 BLOCK DIAGRAM</a:t>
            </a:r>
            <a:endParaRPr lang="en-IN" b="1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BE3A3B1-4ED8-6F9E-98A9-6F29B46168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260297"/>
            <a:ext cx="9860097" cy="49871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61EBB1-2FC0-1272-6B6B-B078E3227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776" y="4018274"/>
            <a:ext cx="728430" cy="19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75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CAF5F8-44BC-192D-28AE-1EF942B6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812" y="332075"/>
            <a:ext cx="10515600" cy="879781"/>
          </a:xfrm>
        </p:spPr>
        <p:txBody>
          <a:bodyPr/>
          <a:lstStyle/>
          <a:p>
            <a:r>
              <a:rPr lang="en-US" b="1"/>
              <a:t>PROPOSED SYSTEM OVERVIEW</a:t>
            </a:r>
            <a:endParaRPr lang="en-IN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A899A-2811-32ED-A565-798E83433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37EE3-14AE-4B13-A448-7D8E65B50785}" type="slidenum">
              <a:rPr lang="en-IN" smtClean="0"/>
              <a:t>11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058E939-C048-3175-1847-F669AF696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539" y="1090670"/>
            <a:ext cx="11501609" cy="5435255"/>
          </a:xfrm>
        </p:spPr>
        <p:txBody>
          <a:bodyPr/>
          <a:lstStyle/>
          <a:p>
            <a:pPr marL="0" indent="0">
              <a:buNone/>
            </a:pPr>
            <a:r>
              <a:rPr lang="en-IN" b="1"/>
              <a:t>We propose:</a:t>
            </a:r>
          </a:p>
          <a:p>
            <a:r>
              <a:rPr lang="en-IN" sz="2400"/>
              <a:t>Transformer-based multi-label classification using </a:t>
            </a:r>
            <a:r>
              <a:rPr lang="en-IN" sz="2400" b="1" err="1"/>
              <a:t>RoBERTa</a:t>
            </a:r>
            <a:r>
              <a:rPr lang="en-IN" sz="2400" b="1"/>
              <a:t>-large</a:t>
            </a:r>
            <a:r>
              <a:rPr lang="en-IN" sz="2400"/>
              <a:t> </a:t>
            </a:r>
          </a:p>
          <a:p>
            <a:r>
              <a:rPr lang="en-IN" sz="2400"/>
              <a:t>Imbalance-aware optimization using </a:t>
            </a:r>
            <a:r>
              <a:rPr lang="en-IN" sz="2400" b="1" err="1"/>
              <a:t>pos_weight</a:t>
            </a:r>
            <a:r>
              <a:rPr lang="en-IN" sz="2400" b="1"/>
              <a:t> (class balancing)</a:t>
            </a:r>
            <a:r>
              <a:rPr lang="en-IN" sz="2400"/>
              <a:t> </a:t>
            </a:r>
          </a:p>
          <a:p>
            <a:r>
              <a:rPr lang="en-IN" sz="2400" b="1"/>
              <a:t>Dynamic threshold tuning</a:t>
            </a:r>
            <a:r>
              <a:rPr lang="en-IN" sz="2400"/>
              <a:t> for optimal F1-score </a:t>
            </a:r>
          </a:p>
          <a:p>
            <a:r>
              <a:rPr lang="en-IN" sz="2400" b="1"/>
              <a:t>End-to-end training using </a:t>
            </a:r>
            <a:r>
              <a:rPr lang="en-IN" sz="2400" b="1" err="1"/>
              <a:t>HuggingFace</a:t>
            </a:r>
            <a:r>
              <a:rPr lang="en-IN" sz="2400" b="1"/>
              <a:t> Trainer</a:t>
            </a:r>
            <a:r>
              <a:rPr lang="en-IN" sz="2400"/>
              <a:t> </a:t>
            </a:r>
          </a:p>
          <a:p>
            <a:r>
              <a:rPr lang="en-IN" sz="2400"/>
              <a:t>Scalable architecture for large datasets (121K samples)</a:t>
            </a:r>
          </a:p>
          <a:p>
            <a:pPr marL="0" indent="0">
              <a:buNone/>
            </a:pPr>
            <a:r>
              <a:rPr lang="en-IN" b="1"/>
              <a:t>Performance metrices:</a:t>
            </a:r>
          </a:p>
          <a:p>
            <a:pPr marL="0" indent="0">
              <a:buNone/>
            </a:pPr>
            <a:r>
              <a:rPr lang="en-IN" sz="2400"/>
              <a:t>Micro F1 Score</a:t>
            </a:r>
          </a:p>
          <a:p>
            <a:pPr marL="0" indent="0">
              <a:buNone/>
            </a:pPr>
            <a:r>
              <a:rPr lang="en-IN" sz="2400"/>
              <a:t>Macro F1 Score</a:t>
            </a:r>
          </a:p>
          <a:p>
            <a:pPr marL="0" indent="0">
              <a:buNone/>
            </a:pPr>
            <a:r>
              <a:rPr lang="en-IN" sz="2400"/>
              <a:t>Precision </a:t>
            </a:r>
          </a:p>
          <a:p>
            <a:pPr marL="0" indent="0">
              <a:buNone/>
            </a:pPr>
            <a:r>
              <a:rPr lang="en-IN" sz="2400"/>
              <a:t>Recall</a:t>
            </a:r>
          </a:p>
        </p:txBody>
      </p:sp>
    </p:spTree>
    <p:extLst>
      <p:ext uri="{BB962C8B-B14F-4D97-AF65-F5344CB8AC3E}">
        <p14:creationId xmlns:p14="http://schemas.microsoft.com/office/powerpoint/2010/main" val="3705694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62F12-C8E2-46FC-35F3-AB6F0803C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162" y="337509"/>
            <a:ext cx="10515602" cy="1024151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tx1"/>
                </a:solidFill>
              </a:rPr>
              <a:t>PROCEDURE </a:t>
            </a:r>
            <a:br>
              <a:rPr lang="en-US">
                <a:solidFill>
                  <a:schemeClr val="tx1"/>
                </a:solidFill>
              </a:rPr>
            </a:br>
            <a:br>
              <a:rPr lang="en-US">
                <a:solidFill>
                  <a:schemeClr val="tx1"/>
                </a:solidFill>
              </a:rPr>
            </a:br>
            <a:br>
              <a:rPr lang="en-US">
                <a:solidFill>
                  <a:schemeClr val="tx1"/>
                </a:solidFill>
              </a:rPr>
            </a:br>
            <a:br>
              <a:rPr lang="en-US">
                <a:solidFill>
                  <a:schemeClr val="tx1"/>
                </a:solidFill>
              </a:rPr>
            </a:br>
            <a:endParaRPr lang="en-IN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46E54-B436-87E5-5AB6-F1E94B8592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217" y="1024568"/>
            <a:ext cx="11209565" cy="5659254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b="1" u="sng"/>
              <a:t>Data Preprocessing</a:t>
            </a:r>
          </a:p>
          <a:p>
            <a:pPr marL="0" indent="0">
              <a:buNone/>
            </a:pPr>
            <a:endParaRPr lang="en-IN" b="1" u="sng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Dataset shuffled randomly for better generalization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Unnecessary columns removed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Labels converted into </a:t>
            </a:r>
            <a:r>
              <a:rPr lang="en-US" altLang="en-US" sz="2000" b="1">
                <a:latin typeface="Arial" panose="020B0604020202020204" pitchFamily="34" charset="0"/>
              </a:rPr>
              <a:t>multi-label numerical format</a:t>
            </a:r>
            <a:r>
              <a:rPr lang="en-US" altLang="en-US" sz="2000">
                <a:latin typeface="Arial" panose="020B0604020202020204" pitchFamily="34" charset="0"/>
              </a:rPr>
              <a:t>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IN" b="1" u="sng"/>
          </a:p>
          <a:p>
            <a:pPr marL="0" indent="0">
              <a:buNone/>
            </a:pPr>
            <a:r>
              <a:rPr lang="en-US" b="1" u="sng"/>
              <a:t>2. </a:t>
            </a:r>
            <a:r>
              <a:rPr lang="en-IN" b="1" u="sng"/>
              <a:t>Tokenization &amp; Input Representation</a:t>
            </a:r>
            <a:endParaRPr lang="en-US" b="1" u="sng"/>
          </a:p>
          <a:p>
            <a:pPr marL="0" indent="0">
              <a:buNone/>
            </a:pPr>
            <a:r>
              <a:rPr lang="en-IN" sz="2000"/>
              <a:t>  </a:t>
            </a:r>
            <a:endParaRPr lang="en-US" altLang="en-US" sz="200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Text tokenized using </a:t>
            </a:r>
            <a:r>
              <a:rPr lang="en-US" altLang="en-US" sz="2000" b="1" err="1">
                <a:latin typeface="Arial" panose="020B0604020202020204" pitchFamily="34" charset="0"/>
              </a:rPr>
              <a:t>RoBERTa</a:t>
            </a:r>
            <a:r>
              <a:rPr lang="en-US" altLang="en-US" sz="2000" b="1">
                <a:latin typeface="Arial" panose="020B0604020202020204" pitchFamily="34" charset="0"/>
              </a:rPr>
              <a:t> tokenizer</a:t>
            </a:r>
            <a:r>
              <a:rPr lang="en-US" altLang="en-US" sz="2000">
                <a:latin typeface="Arial" panose="020B0604020202020204" pitchFamily="34" charset="0"/>
              </a:rPr>
              <a:t>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Converted into: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Input IDs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Attention Masks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>
                <a:latin typeface="Arial" panose="020B0604020202020204" pitchFamily="34" charset="0"/>
              </a:rPr>
              <a:t>Sequences padded/truncated to </a:t>
            </a:r>
            <a:r>
              <a:rPr lang="en-US" altLang="en-US" sz="2000" b="1">
                <a:latin typeface="Arial" panose="020B0604020202020204" pitchFamily="34" charset="0"/>
              </a:rPr>
              <a:t>max length = 100</a:t>
            </a:r>
            <a:r>
              <a:rPr lang="en-US" altLang="en-US" sz="2000">
                <a:latin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endParaRPr lang="en-IN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20DA34F-2C90-BA1D-1526-20BE75D74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7479" y="494611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980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D5981-80CA-DF01-EFCE-0E9A37CDA50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381" y="320307"/>
            <a:ext cx="10931977" cy="60592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  </a:t>
            </a:r>
            <a:r>
              <a:rPr lang="en-US" b="1"/>
              <a:t>3. Model Architecture</a:t>
            </a:r>
          </a:p>
          <a:p>
            <a:r>
              <a:rPr lang="en-US" sz="2000" b="1" err="1"/>
              <a:t>RoBERTa</a:t>
            </a:r>
            <a:r>
              <a:rPr lang="en-US" sz="2000" b="1"/>
              <a:t>-large transformer model</a:t>
            </a:r>
            <a:r>
              <a:rPr lang="en-US" sz="2000"/>
              <a:t> </a:t>
            </a:r>
          </a:p>
          <a:p>
            <a:r>
              <a:rPr lang="en-US" sz="2000"/>
              <a:t>Outputs contextual embeddings </a:t>
            </a:r>
          </a:p>
          <a:p>
            <a:r>
              <a:rPr lang="en-US" sz="2000"/>
              <a:t>Final classification layer predicts </a:t>
            </a:r>
            <a:r>
              <a:rPr lang="en-US" sz="2000" b="1"/>
              <a:t>multi-label probabilities</a:t>
            </a:r>
          </a:p>
          <a:p>
            <a:pPr marL="0" indent="0">
              <a:buNone/>
            </a:pPr>
            <a:endParaRPr lang="en-US" sz="2000" b="1"/>
          </a:p>
          <a:p>
            <a:pPr marL="0" indent="0">
              <a:buNone/>
            </a:pPr>
            <a:r>
              <a:rPr lang="en-US" sz="2000" b="1"/>
              <a:t> 4. </a:t>
            </a:r>
            <a:r>
              <a:rPr lang="en-US" b="1"/>
              <a:t>Loss Function &amp; Imbalance Handling</a:t>
            </a:r>
          </a:p>
          <a:p>
            <a:r>
              <a:rPr lang="en-US" sz="2000" b="1"/>
              <a:t>Binary Cross-Entropy with Logits Loss</a:t>
            </a:r>
            <a:r>
              <a:rPr lang="en-US" sz="2000"/>
              <a:t> </a:t>
            </a:r>
          </a:p>
          <a:p>
            <a:r>
              <a:rPr lang="en-US" sz="2000" b="1" err="1"/>
              <a:t>pos_weight</a:t>
            </a:r>
            <a:r>
              <a:rPr lang="en-US" sz="2000"/>
              <a:t> applied for handling class imbalance </a:t>
            </a:r>
          </a:p>
          <a:p>
            <a:r>
              <a:rPr lang="en-US" sz="2000"/>
              <a:t>Improves learning for minority emotion classes </a:t>
            </a:r>
          </a:p>
          <a:p>
            <a:endParaRPr lang="en-US" sz="2000"/>
          </a:p>
          <a:p>
            <a:r>
              <a:rPr lang="en-IN" b="1" u="sng"/>
              <a:t>5. </a:t>
            </a:r>
            <a:r>
              <a:rPr lang="en-IN" b="1"/>
              <a:t>. Training Strategy</a:t>
            </a:r>
          </a:p>
          <a:p>
            <a:r>
              <a:rPr lang="en-IN"/>
              <a:t>Training using </a:t>
            </a:r>
            <a:r>
              <a:rPr lang="en-IN" b="1" err="1"/>
              <a:t>HuggingFace</a:t>
            </a:r>
            <a:r>
              <a:rPr lang="en-IN" b="1"/>
              <a:t> Trainer API</a:t>
            </a:r>
            <a:r>
              <a:rPr lang="en-IN"/>
              <a:t> </a:t>
            </a:r>
          </a:p>
          <a:p>
            <a:r>
              <a:rPr lang="en-IN"/>
              <a:t>Hyperparameters: </a:t>
            </a:r>
          </a:p>
          <a:p>
            <a:pPr lvl="1"/>
            <a:r>
              <a:rPr lang="en-IN"/>
              <a:t>Learning rate: 2e-5 </a:t>
            </a:r>
          </a:p>
          <a:p>
            <a:pPr lvl="1"/>
            <a:r>
              <a:rPr lang="en-IN"/>
              <a:t>Batch size: 4 </a:t>
            </a:r>
          </a:p>
          <a:p>
            <a:pPr lvl="1"/>
            <a:r>
              <a:rPr lang="en-IN"/>
              <a:t>Epochs: 4 </a:t>
            </a:r>
          </a:p>
          <a:p>
            <a:r>
              <a:rPr lang="en-IN"/>
              <a:t>Mixed precision for faster training</a:t>
            </a:r>
          </a:p>
        </p:txBody>
      </p:sp>
    </p:spTree>
    <p:extLst>
      <p:ext uri="{BB962C8B-B14F-4D97-AF65-F5344CB8AC3E}">
        <p14:creationId xmlns:p14="http://schemas.microsoft.com/office/powerpoint/2010/main" val="188710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DD227-7D5C-486D-2166-055D3E6A4B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0562" y="801693"/>
            <a:ext cx="10515601" cy="4833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u="sng"/>
              <a:t>6.Threshold Tuning &amp; Prediction</a:t>
            </a:r>
          </a:p>
          <a:p>
            <a:pPr marL="0" indent="0">
              <a:buNone/>
            </a:pPr>
            <a:r>
              <a:rPr lang="en-IN"/>
              <a:t>           </a:t>
            </a:r>
          </a:p>
          <a:p>
            <a:pPr marL="0" indent="0">
              <a:buNone/>
            </a:pPr>
            <a:endParaRPr lang="en-IN"/>
          </a:p>
          <a:p>
            <a:pPr marL="0" indent="0">
              <a:buNone/>
            </a:pPr>
            <a:r>
              <a:rPr lang="en-IN"/>
              <a:t>   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D094C25-FC51-2F97-E7E1-E6BF46C6B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433" y="1083665"/>
            <a:ext cx="7293984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Sigmoid applied to logits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Threshold varied from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0.2 to 0.6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 threshold selected based on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maximum Micro F1-score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multi-label predictions generated </a:t>
            </a:r>
          </a:p>
        </p:txBody>
      </p:sp>
    </p:spTree>
    <p:extLst>
      <p:ext uri="{BB962C8B-B14F-4D97-AF65-F5344CB8AC3E}">
        <p14:creationId xmlns:p14="http://schemas.microsoft.com/office/powerpoint/2010/main" val="3093540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DD957-5080-C672-241F-50EC9210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951" y="444849"/>
            <a:ext cx="10515602" cy="616237"/>
          </a:xfrm>
        </p:spPr>
        <p:txBody>
          <a:bodyPr/>
          <a:lstStyle/>
          <a:p>
            <a:r>
              <a:rPr lang="en-US" b="1">
                <a:solidFill>
                  <a:schemeClr val="tx1"/>
                </a:solidFill>
              </a:rPr>
              <a:t>CONCLUSION</a:t>
            </a:r>
            <a:endParaRPr lang="en-IN" b="1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7AB54-FB3A-ED98-A3A7-EBAB538DE7C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6120" y="1077686"/>
            <a:ext cx="11119760" cy="5440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latin typeface="Times New Roman" panose="02020603050405020304" pitchFamily="18" charset="0"/>
                <a:ea typeface="Times New Roman" panose="02020603050405020304" pitchFamily="18" charset="0"/>
              </a:rPr>
              <a:t>   </a:t>
            </a:r>
            <a:endParaRPr lang="en-IN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40FE475-875F-1629-5C44-E86C4A43F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3238" y="873173"/>
            <a:ext cx="10598227" cy="55399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Proposed a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multi-label emotion detection system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</a:t>
            </a:r>
            <a:r>
              <a:rPr kumimoji="0" lang="en-US" altLang="en-US" sz="24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RoBERTa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-large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deep contextual understanding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Handled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 imbalance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</a:t>
            </a:r>
            <a:r>
              <a:rPr kumimoji="0" lang="en-US" altLang="en-US" sz="24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BCEWithLogitsLoss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</a:t>
            </a:r>
            <a:r>
              <a:rPr kumimoji="0" lang="en-US" altLang="en-US" sz="24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pos_weight</a:t>
            </a:r>
            <a:endParaRPr kumimoji="0" lang="en-US" alt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Applied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adaptive threshold tuning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improve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 F1-score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Trained on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full </a:t>
            </a:r>
            <a:r>
              <a:rPr kumimoji="0" lang="en-US" altLang="en-US" sz="24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GoEmotions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dataset (121K samples)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better performance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Achieved results in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F1-score, precision, and recall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Demonstrated a </a:t>
            </a:r>
            <a:r>
              <a:rPr kumimoji="0" lang="en-US" alt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scalable and efficient solution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real-world emotion detection </a:t>
            </a:r>
          </a:p>
        </p:txBody>
      </p:sp>
    </p:spTree>
    <p:extLst>
      <p:ext uri="{BB962C8B-B14F-4D97-AF65-F5344CB8AC3E}">
        <p14:creationId xmlns:p14="http://schemas.microsoft.com/office/powerpoint/2010/main" val="29191294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B25B7-429C-4E5F-D55C-8B2A0004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760" y="481833"/>
            <a:ext cx="8682990" cy="623954"/>
          </a:xfrm>
        </p:spPr>
        <p:txBody>
          <a:bodyPr>
            <a:normAutofit/>
          </a:bodyPr>
          <a:lstStyle/>
          <a:p>
            <a:pPr algn="l"/>
            <a:r>
              <a:rPr lang="en-US" sz="3600" b="1">
                <a:solidFill>
                  <a:schemeClr val="tx1"/>
                </a:solidFill>
                <a:latin typeface="+mn-lt"/>
              </a:rPr>
              <a:t>REFERENCES</a:t>
            </a:r>
            <a:endParaRPr lang="en-IN" sz="3600" b="1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561EDD1-EE6C-B3DF-FBBD-DD9DA028B2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1760" y="1148318"/>
            <a:ext cx="10494556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Demszky, D., </a:t>
            </a:r>
            <a:r>
              <a:rPr kumimoji="0" lang="en-US" altLang="en-US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Movshovitz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-Attias, D., Ko, J., Cowen, A., </a:t>
            </a:r>
            <a:r>
              <a:rPr kumimoji="0" lang="en-US" altLang="en-US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Nemade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G., &amp; Ravi, S. (2020).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1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GoEmotions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 Dataset of Fine-Grained Emotions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In Proceedings of the 58th Annual Meeting of the Association for Computational Linguistics (ACL), 4040–4054.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🔗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https://aclanthology.org/2020.acl-main.372/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Devlin, J., Chang, M.-W., Lee, K., &amp; Toutanova, K. (2019).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BERT: Pre-training of Deep Bidirectional Transformers for Language Understanding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In Proceedings of NAACL-HLT.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🔗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3"/>
              </a:rPr>
              <a:t>https://arxiv.org/abs/1810.04805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Harutyunyan, A. &amp; Kumar, S. (2026).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Fine-Grained Emotion Detection on </a:t>
            </a:r>
            <a:r>
              <a:rPr kumimoji="0" lang="en-US" altLang="en-US" b="0" i="1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GoEmotions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Experimental Comparison of Classical ML, </a:t>
            </a:r>
            <a:r>
              <a:rPr kumimoji="0" lang="en-US" altLang="en-US" b="0" i="1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BiLSTM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and Transformer Models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arXiv:2601.18162.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🔗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4"/>
              </a:rPr>
              <a:t>https://arxiv.org/abs/2601.18162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Sitoula</a:t>
            </a: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R. S., Pramanik, M., &amp; Panigrahi, R. (2024).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Fine-Grained Classification for Emotion Detection Using Advanced Neural Models and </a:t>
            </a:r>
            <a:r>
              <a:rPr kumimoji="0" lang="en-US" altLang="en-US" b="0" i="1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GoEmotions</a:t>
            </a:r>
            <a:r>
              <a:rPr kumimoji="0" lang="en-US" altLang="en-US" b="0" i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Dataset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Journal of Soft Computing and Data Mining, Vol. 5(2).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🔗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5"/>
              </a:rPr>
              <a:t>https://publisher.uthm.edu.my/ojs/index.php/jscdm/article/view/17843</a:t>
            </a:r>
            <a:endParaRPr kumimoji="0" lang="en-US" altLang="en-US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847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FEB329-CF8B-061A-383C-944A0359E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548" y="1810519"/>
            <a:ext cx="8682990" cy="2230802"/>
          </a:xfrm>
        </p:spPr>
        <p:txBody>
          <a:bodyPr>
            <a:normAutofit/>
          </a:bodyPr>
          <a:lstStyle/>
          <a:p>
            <a:r>
              <a:rPr lang="en-US" sz="9600"/>
              <a:t>THANK YOU</a:t>
            </a:r>
            <a:endParaRPr lang="en-IN" sz="9600"/>
          </a:p>
        </p:txBody>
      </p:sp>
    </p:spTree>
    <p:extLst>
      <p:ext uri="{BB962C8B-B14F-4D97-AF65-F5344CB8AC3E}">
        <p14:creationId xmlns:p14="http://schemas.microsoft.com/office/powerpoint/2010/main" val="1870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 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 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 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6A71AF-4CF2-4B95-BFB6-5C27500258C6}">
  <ds:schemaRefs>
    <ds:schemaRef ds:uri="http://schemas.microsoft.com/office/2006/metadata/properties"/>
    <ds:schemaRef ds:uri="http://www.w3.org/2000/xmlns/"/>
    <ds:schemaRef ds:uri="71af3243-3dd4-4a8d-8c0d-dd76da1f02a5"/>
    <ds:schemaRef ds:uri="http://www.w3.org/2001/XMLSchema-instance"/>
    <ds:schemaRef ds:uri="http://schemas.microsoft.com/sharepoint/v3"/>
    <ds:schemaRef ds:uri="http://schemas.microsoft.com/office/infopath/2007/PartnerControls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18B1F56-8983-41A9-8E90-86247BC2C41D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71af3243-3dd4-4a8d-8c0d-dd76da1f02a5"/>
    <ds:schemaRef ds:uri="16c05727-aa75-4e4a-9b5f-8a80a1165891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60B100-7079-4DE7-AF7C-20BFB1D62C4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 MULTI-LABEL EMOTION DETECTION IN TEXT USING RoBERTa WITH IMBALANCE-AWARE OPTIMIZATION</vt:lpstr>
      <vt:lpstr>CONTENTS</vt:lpstr>
      <vt:lpstr>   ABSTRACT</vt:lpstr>
      <vt:lpstr>INTRODUCTION</vt:lpstr>
      <vt:lpstr>PROBLEM STATEMENT</vt:lpstr>
      <vt:lpstr>EXISTING SYSTEM</vt:lpstr>
      <vt:lpstr>BLOCK DIAGRAM</vt:lpstr>
      <vt:lpstr>LITERATURE SURVEY</vt:lpstr>
      <vt:lpstr>PROPOSED SYSTEM</vt:lpstr>
      <vt:lpstr> BLOCK DIAGRAM</vt:lpstr>
      <vt:lpstr>PROPOSED SYSTEM OVERVIEW</vt:lpstr>
      <vt:lpstr>PROCEDURE     </vt:lpstr>
      <vt:lpstr>PowerPoint Presentation</vt:lpstr>
      <vt:lpstr>PowerPoint Presentation</vt:lpstr>
      <vt:lpstr>CONCLUSION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 DETECTION IN TEXT USING BERT</dc:title>
  <dc:creator>keerthikm0803@outlook.com</dc:creator>
  <cp:lastModifiedBy>keerthi km</cp:lastModifiedBy>
  <cp:revision>3</cp:revision>
  <dcterms:created xsi:type="dcterms:W3CDTF">2025-03-05T03:02:32Z</dcterms:created>
  <dcterms:modified xsi:type="dcterms:W3CDTF">2026-04-09T04:59:47Z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